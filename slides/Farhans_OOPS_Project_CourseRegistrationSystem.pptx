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D4F7B-7250-FFE3-152C-65677F5DF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3ADDA-289B-DA63-3A92-0177D5A01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AE6F-F323-90D9-1FB0-FF7F5169B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D1DDF-BD42-3EC7-DBB6-0A4B94D30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C7CA2-A8DD-5A8C-4388-F503D059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2132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71FCA-8929-51DD-B1EE-799C5027C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14D31-60C3-12DC-3007-3304615A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4D65A-952B-6636-1F72-68F9B160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6255D-0A14-1F32-B706-5C44B30A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9B7F2-305C-4DEF-04D5-492ED94D9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71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E5E3-E3B8-0151-F385-8C06FBB90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F6CF3-7C17-632A-E08B-D8CB7B978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F4AF-0841-6362-6D2C-7CB8FE75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CB24A-192C-D89B-CAB6-FE29C664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85430-F1E6-2EC9-6040-4C6433CE8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69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67847-ECE3-82D4-C726-3EA9C6615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782CF-504A-C6A9-A87B-1009954F6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C616FE-C31C-FECE-A238-2D3FF94AF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AD2B-0375-D3DD-34DE-82F8AA55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004E0-FC2C-6E47-A171-508DD0C8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8A938-0DAF-9DFB-390F-EC4F7146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450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B929-F166-5EC1-70EA-E80593CB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2CCE-E5C9-6195-92B5-8622A3B2C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CB51B-E57F-2F8C-AA39-A199EE4B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59CA4-C4EE-496F-A85E-35F4DB784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3377CF-5AF4-B7FE-73AE-9CF35607D7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A40A6-988A-8312-A9F8-CDCBE5DB3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B7969-0BE6-1DDC-8AEB-C2E487355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371D3B-B668-B8CD-2FCD-C447179D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6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0793-EB56-1C27-C473-0A5CCB330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4E61D-3861-AF45-982B-607B2A6EA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0C177-23A6-4DE3-62C6-D1878257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CFD4F-D4E7-D981-BD1F-0C6EFCF9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48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87C04-2AC6-37A4-FC63-E4D2A1B32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378AA-42F5-9AB8-F665-31005EB4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59804-0124-96E9-A597-34C5780D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932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AFCA-CE16-57D1-E516-9F97BCC33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0BEE-FD18-0883-F05B-6C9585268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D1B89-9B38-53A9-7FD1-1469E8B45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E2E94-8F23-32E5-5E40-8554B344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48E4E-4826-E486-FE88-C2AE8C1C5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A8DFA-FE2C-2C85-95F0-8C7BB67F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367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D7C5D-D811-4100-0FCE-A563C90D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053D2-248A-F5A2-BAEF-A4ACBFEC3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2597B4-11A4-C49C-A451-A3EAF4FB5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5B7EC-A3BA-7701-3D28-47ECB4CCE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46D38-15B1-B151-4B0D-0D3C59A2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A126C-F5CB-E10B-F659-206F8597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63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9A91-0102-7583-EE66-DEBC3D6E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B3634-E505-FE1F-0C97-7901C62A0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73744-F084-E68C-791F-990ADBE3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EB54-C95E-3018-6331-E272A011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85BE8-4D39-E90A-F0B7-BF131692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7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90310-CF58-4538-31A4-37FFDFCDF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61FCD-5813-758F-AF20-9CD29DB48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AABA9-2230-2007-0F54-CC8537F0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09ED7-AA99-468C-A48E-BE9FBEA4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EC335-452D-7CE8-5806-DCD8FD23D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012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24B579-9A11-EAD6-A16E-3140857C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AF584-8818-202E-02D3-6B018A7BE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9166D-41F6-A5D3-37A5-4CF6B6747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82806-6913-4916-B112-D3DE1E7D96EF}" type="datetimeFigureOut">
              <a:rPr lang="en-IN" smtClean="0"/>
              <a:t>28-03-2026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D8FD-5415-A96D-F39A-54E57FEDF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F068C-8803-9B52-D866-77E0A20C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F4201-94CC-466D-975A-340CE6519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8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14DA-8B6F-151A-5F48-D8C7FCEDA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2931" y="692458"/>
            <a:ext cx="9144000" cy="2387600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Title:</a:t>
            </a:r>
            <a:br>
              <a:rPr lang="en-US" sz="33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r>
              <a:rPr lang="en-US" sz="33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Course Registration System using Composite Pattern</a:t>
            </a:r>
            <a:b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</a:br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66F8E-4910-55E0-4E91-38A659F0D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Problem Statement:</a:t>
            </a:r>
            <a:br>
              <a:rPr lang="en-US" dirty="0"/>
            </a:br>
            <a:r>
              <a:rPr lang="en-US" dirty="0"/>
              <a:t>Students need an efficient system to select, organize, and manage courses, especially when courses are structured into groups like core and advanced modules.</a:t>
            </a:r>
            <a:br>
              <a:rPr lang="en-US" dirty="0"/>
            </a:br>
            <a:r>
              <a:rPr lang="en-US" b="1" dirty="0"/>
              <a:t>Target Users:</a:t>
            </a:r>
            <a:br>
              <a:rPr lang="en-US" dirty="0"/>
            </a:br>
            <a:r>
              <a:rPr lang="en-US" dirty="0"/>
              <a:t>College and University Students, Academic Administrators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049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EFA40-8A97-40EC-39BF-A195FF51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439" y="177420"/>
            <a:ext cx="10261979" cy="682389"/>
          </a:xfrm>
        </p:spPr>
        <p:txBody>
          <a:bodyPr>
            <a:normAutofit fontScale="90000"/>
          </a:bodyPr>
          <a:lstStyle/>
          <a:p>
            <a:br>
              <a:rPr lang="en-IN" sz="3000" dirty="0"/>
            </a:br>
            <a:r>
              <a:rPr lang="en-IN" sz="3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System Design</a:t>
            </a:r>
            <a:endParaRPr lang="en-IN" sz="3000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A185E-6A14-2099-53CE-D7EE9593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6439" y="1170533"/>
            <a:ext cx="10515600" cy="5414512"/>
          </a:xfrm>
        </p:spPr>
        <p:txBody>
          <a:bodyPr>
            <a:normAutofit lnSpcReduction="10000"/>
          </a:bodyPr>
          <a:lstStyle/>
          <a:p>
            <a:r>
              <a:rPr lang="en-US" sz="2000" b="1" dirty="0"/>
              <a:t>High-Level Architecture:</a:t>
            </a:r>
            <a:br>
              <a:rPr lang="en-US" sz="2000" dirty="0"/>
            </a:br>
            <a:r>
              <a:rPr lang="en-US" sz="2000" dirty="0"/>
              <a:t>User interacts with a menu-driven interface → system processes input → manages course selection using Composite Pattern.</a:t>
            </a:r>
          </a:p>
          <a:p>
            <a:r>
              <a:rPr lang="fr-FR" dirty="0"/>
              <a:t>User → Menu System → Course Modules (Composite Structure)</a:t>
            </a:r>
          </a:p>
          <a:p>
            <a:r>
              <a:rPr lang="en-US" sz="2000" b="1" dirty="0"/>
              <a:t>Key Classes &amp; Responsibilities:</a:t>
            </a:r>
            <a:endParaRPr lang="en-US" sz="2000" dirty="0"/>
          </a:p>
          <a:p>
            <a:r>
              <a:rPr lang="en-US" sz="2000" b="1" dirty="0" err="1"/>
              <a:t>CourseModule</a:t>
            </a:r>
            <a:r>
              <a:rPr lang="en-US" sz="2000" b="1" dirty="0"/>
              <a:t> (Interface):</a:t>
            </a:r>
            <a:r>
              <a:rPr lang="en-US" sz="2000" dirty="0"/>
              <a:t> Defines common operations like </a:t>
            </a:r>
            <a:r>
              <a:rPr lang="en-US" sz="2000" dirty="0" err="1"/>
              <a:t>showDetails</a:t>
            </a:r>
            <a:r>
              <a:rPr lang="en-US" sz="2000" dirty="0"/>
              <a:t>() and </a:t>
            </a:r>
            <a:r>
              <a:rPr lang="en-US" sz="2000" dirty="0" err="1"/>
              <a:t>getCredits</a:t>
            </a:r>
            <a:r>
              <a:rPr lang="en-US" sz="2000" dirty="0"/>
              <a:t>() </a:t>
            </a:r>
          </a:p>
          <a:p>
            <a:r>
              <a:rPr lang="en-US" sz="2000" b="1" dirty="0" err="1"/>
              <a:t>IndividualCourse</a:t>
            </a:r>
            <a:r>
              <a:rPr lang="en-US" sz="2000" b="1" dirty="0"/>
              <a:t> (Leaf):</a:t>
            </a:r>
            <a:r>
              <a:rPr lang="en-US" sz="2000" dirty="0"/>
              <a:t> Represents a single course with name and credits </a:t>
            </a:r>
          </a:p>
          <a:p>
            <a:r>
              <a:rPr lang="en-US" sz="2000" b="1" dirty="0" err="1"/>
              <a:t>CourseGroup</a:t>
            </a:r>
            <a:r>
              <a:rPr lang="en-US" sz="2000" b="1" dirty="0"/>
              <a:t> (Composite):</a:t>
            </a:r>
            <a:r>
              <a:rPr lang="en-US" sz="2000" dirty="0"/>
              <a:t> Groups multiple courses/modules and manages them </a:t>
            </a:r>
          </a:p>
          <a:p>
            <a:r>
              <a:rPr lang="en-US" sz="2000" b="1" dirty="0"/>
              <a:t>Package Structure:</a:t>
            </a:r>
            <a:endParaRPr lang="en-US" sz="2000" dirty="0"/>
          </a:p>
          <a:p>
            <a:r>
              <a:rPr lang="en-US" sz="2000" b="1" dirty="0"/>
              <a:t>model:</a:t>
            </a:r>
            <a:r>
              <a:rPr lang="en-US" sz="2000" dirty="0"/>
              <a:t> Contains </a:t>
            </a:r>
            <a:r>
              <a:rPr lang="en-US" sz="2000" dirty="0" err="1"/>
              <a:t>CourseModule</a:t>
            </a:r>
            <a:r>
              <a:rPr lang="en-US" sz="2000" dirty="0"/>
              <a:t>, </a:t>
            </a:r>
            <a:r>
              <a:rPr lang="en-US" sz="2000" dirty="0" err="1"/>
              <a:t>IndividualCourse</a:t>
            </a:r>
            <a:r>
              <a:rPr lang="en-US" sz="2000" dirty="0"/>
              <a:t>, </a:t>
            </a:r>
            <a:r>
              <a:rPr lang="en-US" sz="2000" dirty="0" err="1"/>
              <a:t>CourseGroup</a:t>
            </a:r>
            <a:r>
              <a:rPr lang="en-US" sz="2000" dirty="0"/>
              <a:t> </a:t>
            </a:r>
          </a:p>
          <a:p>
            <a:r>
              <a:rPr lang="en-US" sz="2000" b="1" dirty="0"/>
              <a:t>main:</a:t>
            </a:r>
            <a:r>
              <a:rPr lang="en-US" sz="2000" dirty="0"/>
              <a:t> Contains </a:t>
            </a:r>
            <a:r>
              <a:rPr lang="en-US" sz="2000" dirty="0" err="1"/>
              <a:t>CourseRegistrationSystem</a:t>
            </a:r>
            <a:r>
              <a:rPr lang="en-US" sz="2000" dirty="0"/>
              <a:t> (execution logic) </a:t>
            </a:r>
          </a:p>
          <a:p>
            <a:r>
              <a:rPr lang="en-IN" dirty="0"/>
              <a:t> </a:t>
            </a:r>
            <a:r>
              <a:rPr lang="en-IN" dirty="0" err="1"/>
              <a:t>CourseModule</a:t>
            </a:r>
            <a:endParaRPr lang="en-IN" dirty="0"/>
          </a:p>
          <a:p>
            <a:r>
              <a:rPr lang="en-IN" dirty="0"/>
              <a:t>        /                         \</a:t>
            </a:r>
          </a:p>
          <a:p>
            <a:r>
              <a:rPr lang="en-IN" dirty="0" err="1"/>
              <a:t>IndividualCourse</a:t>
            </a:r>
            <a:r>
              <a:rPr lang="en-IN" dirty="0"/>
              <a:t>  </a:t>
            </a:r>
            <a:r>
              <a:rPr lang="en-IN" dirty="0" err="1"/>
              <a:t>CourseGroup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45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0AAE-FF6D-7309-8E46-CE96AA596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8783" y="365125"/>
            <a:ext cx="9934433" cy="433269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OOP Concepts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78EC-D0CC-AD57-46B1-2643C496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443" y="798394"/>
            <a:ext cx="10967114" cy="5837593"/>
          </a:xfrm>
        </p:spPr>
        <p:txBody>
          <a:bodyPr>
            <a:normAutofit fontScale="92500" lnSpcReduction="10000"/>
          </a:bodyPr>
          <a:lstStyle/>
          <a:p>
            <a:r>
              <a:rPr lang="en-US" sz="2400" b="1" dirty="0"/>
              <a:t>Abstraction:</a:t>
            </a:r>
            <a:endParaRPr lang="en-US" sz="2400" dirty="0"/>
          </a:p>
          <a:p>
            <a:r>
              <a:rPr lang="en-US" sz="2400" dirty="0"/>
              <a:t>Implemented using the </a:t>
            </a:r>
            <a:r>
              <a:rPr lang="en-US" sz="2400" b="1" dirty="0" err="1"/>
              <a:t>CourseModule</a:t>
            </a:r>
            <a:r>
              <a:rPr lang="en-US" sz="2400" b="1" dirty="0"/>
              <a:t> interface</a:t>
            </a:r>
            <a:r>
              <a:rPr lang="en-US" sz="2400" dirty="0"/>
              <a:t> </a:t>
            </a:r>
          </a:p>
          <a:p>
            <a:r>
              <a:rPr lang="en-US" sz="2400" dirty="0"/>
              <a:t>Hides implementation details and exposes only essential methods like </a:t>
            </a:r>
            <a:r>
              <a:rPr lang="en-US" sz="2400" dirty="0" err="1"/>
              <a:t>showDetails</a:t>
            </a:r>
            <a:r>
              <a:rPr lang="en-US" sz="2400" dirty="0"/>
              <a:t>() and </a:t>
            </a:r>
            <a:r>
              <a:rPr lang="en-US" sz="2400" dirty="0" err="1"/>
              <a:t>getCredits</a:t>
            </a:r>
            <a:r>
              <a:rPr lang="en-US" sz="2400" dirty="0"/>
              <a:t>() </a:t>
            </a:r>
          </a:p>
          <a:p>
            <a:r>
              <a:rPr lang="en-US" sz="2400" b="1" dirty="0"/>
              <a:t>Inheritance:</a:t>
            </a:r>
            <a:endParaRPr lang="en-US" sz="2400" dirty="0"/>
          </a:p>
          <a:p>
            <a:r>
              <a:rPr lang="en-US" sz="2400" b="1" dirty="0" err="1"/>
              <a:t>IndividualCourse</a:t>
            </a:r>
            <a:r>
              <a:rPr lang="en-US" sz="2400" dirty="0"/>
              <a:t> and </a:t>
            </a:r>
            <a:r>
              <a:rPr lang="en-US" sz="2400" b="1" dirty="0" err="1"/>
              <a:t>CourseGroup</a:t>
            </a:r>
            <a:r>
              <a:rPr lang="en-US" sz="2400" dirty="0"/>
              <a:t> both implement the </a:t>
            </a:r>
            <a:r>
              <a:rPr lang="en-US" sz="2400" b="1" dirty="0" err="1"/>
              <a:t>CourseModule</a:t>
            </a:r>
            <a:r>
              <a:rPr lang="en-US" sz="2400" b="1" dirty="0"/>
              <a:t> interface</a:t>
            </a:r>
            <a:r>
              <a:rPr lang="en-US" sz="2400" dirty="0"/>
              <a:t> </a:t>
            </a:r>
          </a:p>
          <a:p>
            <a:r>
              <a:rPr lang="en-US" sz="2400" dirty="0"/>
              <a:t>Ensures a common structure for all course types </a:t>
            </a:r>
          </a:p>
          <a:p>
            <a:r>
              <a:rPr lang="en-US" sz="2400" b="1" dirty="0"/>
              <a:t>Polymorphism:</a:t>
            </a:r>
            <a:endParaRPr lang="en-US" sz="2400" dirty="0"/>
          </a:p>
          <a:p>
            <a:r>
              <a:rPr lang="en-US" sz="2400" dirty="0"/>
              <a:t>Same interface (</a:t>
            </a:r>
            <a:r>
              <a:rPr lang="en-US" sz="2400" b="1" dirty="0" err="1"/>
              <a:t>CourseModule</a:t>
            </a:r>
            <a:r>
              <a:rPr lang="en-US" sz="2400" dirty="0"/>
              <a:t>) is used to handle both individual courses and course groups </a:t>
            </a:r>
          </a:p>
          <a:p>
            <a:r>
              <a:rPr lang="en-US" sz="2400" dirty="0"/>
              <a:t>Methods like </a:t>
            </a:r>
            <a:r>
              <a:rPr lang="en-US" sz="2400" dirty="0" err="1"/>
              <a:t>showDetails</a:t>
            </a:r>
            <a:r>
              <a:rPr lang="en-US" sz="2400" dirty="0"/>
              <a:t>() behave differently based on object type </a:t>
            </a:r>
          </a:p>
          <a:p>
            <a:r>
              <a:rPr lang="en-US" sz="2400" b="1" dirty="0"/>
              <a:t>Design Pattern:</a:t>
            </a:r>
            <a:endParaRPr lang="en-US" sz="2400" dirty="0"/>
          </a:p>
          <a:p>
            <a:r>
              <a:rPr lang="en-US" sz="2400" b="1" dirty="0"/>
              <a:t>Composite Pattern</a:t>
            </a:r>
            <a:r>
              <a:rPr lang="en-US" sz="2400" dirty="0"/>
              <a:t> </a:t>
            </a:r>
          </a:p>
          <a:p>
            <a:r>
              <a:rPr lang="en-US" sz="2400" dirty="0"/>
              <a:t>Allows treating individual courses and groups of courses uniformly </a:t>
            </a:r>
          </a:p>
          <a:p>
            <a:r>
              <a:rPr lang="en-US" sz="2400" dirty="0"/>
              <a:t>Supports hierarchical (tree-like) course structure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18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8BC82-3569-B978-E261-BF80F0A35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37" y="409434"/>
            <a:ext cx="10057263" cy="694401"/>
          </a:xfrm>
        </p:spPr>
        <p:txBody>
          <a:bodyPr>
            <a:normAutofit/>
          </a:bodyPr>
          <a:lstStyle/>
          <a:p>
            <a:r>
              <a:rPr lang="en-IN" sz="30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FFFF00"/>
                </a:highlight>
              </a:rPr>
              <a:t>Technical Highlight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D1929-8BF3-1B05-2CD3-65D5EC31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483" y="1020405"/>
            <a:ext cx="10515600" cy="510743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Key Design Decision:</a:t>
            </a:r>
            <a:endParaRPr lang="en-US" dirty="0"/>
          </a:p>
          <a:p>
            <a:r>
              <a:rPr lang="en-US" dirty="0"/>
              <a:t>Implemented the </a:t>
            </a:r>
            <a:r>
              <a:rPr lang="en-US" b="1" dirty="0"/>
              <a:t>Composite Pattern</a:t>
            </a:r>
            <a:r>
              <a:rPr lang="en-US" dirty="0"/>
              <a:t> to represent both individual courses and grouped course modules </a:t>
            </a:r>
          </a:p>
          <a:p>
            <a:r>
              <a:rPr lang="en-US" b="1" dirty="0"/>
              <a:t>Specific Code Logic:</a:t>
            </a:r>
            <a:endParaRPr lang="en-US" dirty="0"/>
          </a:p>
          <a:p>
            <a:r>
              <a:rPr lang="en-US" dirty="0" err="1"/>
              <a:t>CourseGroup</a:t>
            </a:r>
            <a:r>
              <a:rPr lang="en-US" dirty="0"/>
              <a:t> stores a list of </a:t>
            </a:r>
            <a:r>
              <a:rPr lang="en-US" dirty="0" err="1"/>
              <a:t>CourseModule</a:t>
            </a:r>
            <a:r>
              <a:rPr lang="en-US" dirty="0"/>
              <a:t> objects </a:t>
            </a:r>
          </a:p>
          <a:p>
            <a:r>
              <a:rPr lang="en-US" dirty="0"/>
              <a:t>Uses a loop to calculate </a:t>
            </a:r>
            <a:r>
              <a:rPr lang="en-US" b="1" dirty="0"/>
              <a:t>total credits dynamically</a:t>
            </a:r>
            <a:r>
              <a:rPr lang="en-US" dirty="0"/>
              <a:t> </a:t>
            </a:r>
          </a:p>
          <a:p>
            <a:r>
              <a:rPr lang="en-US" dirty="0"/>
              <a:t>Same methods (</a:t>
            </a:r>
            <a:r>
              <a:rPr lang="en-US" dirty="0" err="1"/>
              <a:t>showDetails</a:t>
            </a:r>
            <a:r>
              <a:rPr lang="en-US" dirty="0"/>
              <a:t>(), </a:t>
            </a:r>
            <a:r>
              <a:rPr lang="en-US" dirty="0" err="1"/>
              <a:t>getCredits</a:t>
            </a:r>
            <a:r>
              <a:rPr lang="en-US" dirty="0"/>
              <a:t>()) work for both single courses and groups </a:t>
            </a:r>
          </a:p>
          <a:p>
            <a:r>
              <a:rPr lang="en-US" b="1" dirty="0"/>
              <a:t>Why This Approach:</a:t>
            </a:r>
            <a:endParaRPr lang="en-US" dirty="0"/>
          </a:p>
          <a:p>
            <a:r>
              <a:rPr lang="en-US" dirty="0"/>
              <a:t>Simplifies handling of complex course structures </a:t>
            </a:r>
          </a:p>
          <a:p>
            <a:r>
              <a:rPr lang="en-US" dirty="0"/>
              <a:t>Allows </a:t>
            </a:r>
            <a:r>
              <a:rPr lang="en-US" b="1" dirty="0"/>
              <a:t>nested grouping</a:t>
            </a:r>
            <a:r>
              <a:rPr lang="en-US" dirty="0"/>
              <a:t> (e.g., semester → core + advanced courses) </a:t>
            </a:r>
          </a:p>
          <a:p>
            <a:r>
              <a:rPr lang="en-US" dirty="0"/>
              <a:t>Makes the system </a:t>
            </a:r>
            <a:r>
              <a:rPr lang="en-US" b="1" dirty="0"/>
              <a:t>scalable and flexible</a:t>
            </a:r>
            <a:r>
              <a:rPr lang="en-US" dirty="0"/>
              <a:t> </a:t>
            </a:r>
          </a:p>
          <a:p>
            <a:r>
              <a:rPr lang="en-US" dirty="0"/>
              <a:t>Reduces code duplication and improves maintainability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87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678C-29ED-AF72-1C53-7AC2DAE0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412" y="365126"/>
            <a:ext cx="10207388" cy="63116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FFFF00"/>
                </a:highlight>
              </a:rPr>
              <a:t>Live Demo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D3832-0E66-4248-25AC-0D96F33C8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507" y="1098645"/>
            <a:ext cx="10637293" cy="507831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What I Will Demonstrate:</a:t>
            </a:r>
            <a:endParaRPr lang="en-IN" dirty="0"/>
          </a:p>
          <a:p>
            <a:r>
              <a:rPr lang="en-IN" dirty="0"/>
              <a:t>Menu-driven Course Registration System </a:t>
            </a:r>
          </a:p>
          <a:p>
            <a:r>
              <a:rPr lang="en-IN" dirty="0"/>
              <a:t>Viewing available courses </a:t>
            </a:r>
          </a:p>
          <a:p>
            <a:r>
              <a:rPr lang="en-IN" dirty="0"/>
              <a:t>Registering for courses </a:t>
            </a:r>
          </a:p>
          <a:p>
            <a:r>
              <a:rPr lang="en-IN" b="1" dirty="0"/>
              <a:t>Demo Scenario:</a:t>
            </a:r>
            <a:endParaRPr lang="en-IN" dirty="0"/>
          </a:p>
          <a:p>
            <a:r>
              <a:rPr lang="en-IN" dirty="0"/>
              <a:t>Student views all courses </a:t>
            </a:r>
          </a:p>
          <a:p>
            <a:r>
              <a:rPr lang="en-IN" dirty="0"/>
              <a:t>Selects 2–3 courses </a:t>
            </a:r>
          </a:p>
          <a:p>
            <a:r>
              <a:rPr lang="en-IN" dirty="0"/>
              <a:t>System displays selected courses and total credits </a:t>
            </a:r>
          </a:p>
          <a:p>
            <a:r>
              <a:rPr lang="en-IN" b="1" dirty="0"/>
              <a:t>Error Handling:</a:t>
            </a:r>
            <a:endParaRPr lang="en-IN" dirty="0"/>
          </a:p>
          <a:p>
            <a:r>
              <a:rPr lang="en-IN" dirty="0"/>
              <a:t>Invalid course selection (wrong number) </a:t>
            </a:r>
          </a:p>
          <a:p>
            <a:r>
              <a:rPr lang="en-IN" dirty="0"/>
              <a:t>Duplicate course registration prevented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71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386</Words>
  <Application>Microsoft Office PowerPoint</Application>
  <PresentationFormat>Widescreen</PresentationFormat>
  <Paragraphs>53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Title: Course Registration System using Composite Pattern </vt:lpstr>
      <vt:lpstr> System Design</vt:lpstr>
      <vt:lpstr>OOP Concepts Used</vt:lpstr>
      <vt:lpstr>Technical Highlight</vt:lpstr>
      <vt:lpstr>Live Demo: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alifarhan2712@gmail.com</dc:creator>
  <cp:lastModifiedBy>alifarhan2712@gmail.com</cp:lastModifiedBy>
  <cp:revision>1</cp:revision>
  <dcterms:created xsi:type="dcterms:W3CDTF">2026-03-28T14:33:09Z</dcterms:created>
  <dcterms:modified xsi:type="dcterms:W3CDTF">2026-03-28T14:44:16Z</dcterms:modified>
</cp:coreProperties>
</file>